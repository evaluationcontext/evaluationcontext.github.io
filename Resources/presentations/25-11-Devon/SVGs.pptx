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7" r:id="rId4"/>
    <p:sldId id="29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4C49"/>
    <a:srgbClr val="074D49"/>
    <a:srgbClr val="C66F7D"/>
    <a:srgbClr val="64A595"/>
    <a:srgbClr val="D75F58"/>
    <a:srgbClr val="1CC0A5"/>
    <a:srgbClr val="3971ED"/>
    <a:srgbClr val="4567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A00670-11D2-415F-B167-23DE2C57E487}" v="1" dt="2025-11-25T17:43:19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4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1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Duddy" userId="7a8a0c806e99fd3e" providerId="LiveId" clId="{CCFF1EDE-63BB-4842-AC66-0597FB2EFDF5}"/>
    <pc:docChg chg="addSld delSld modSld delSection modSection">
      <pc:chgData name="Jake Duddy" userId="7a8a0c806e99fd3e" providerId="LiveId" clId="{CCFF1EDE-63BB-4842-AC66-0597FB2EFDF5}" dt="2025-11-25T17:43:39.933" v="7" actId="47"/>
      <pc:docMkLst>
        <pc:docMk/>
      </pc:docMkLst>
      <pc:sldChg chg="add del">
        <pc:chgData name="Jake Duddy" userId="7a8a0c806e99fd3e" providerId="LiveId" clId="{CCFF1EDE-63BB-4842-AC66-0597FB2EFDF5}" dt="2025-11-25T17:43:19.616" v="4"/>
        <pc:sldMkLst>
          <pc:docMk/>
          <pc:sldMk cId="2639873418" sldId="258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271090301" sldId="263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1521373976" sldId="264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214369071" sldId="265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2596470607" sldId="268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3415868673" sldId="270"/>
        </pc:sldMkLst>
      </pc:sldChg>
      <pc:sldChg chg="del">
        <pc:chgData name="Jake Duddy" userId="7a8a0c806e99fd3e" providerId="LiveId" clId="{CCFF1EDE-63BB-4842-AC66-0597FB2EFDF5}" dt="2025-11-25T17:43:35.027" v="6" actId="47"/>
        <pc:sldMkLst>
          <pc:docMk/>
          <pc:sldMk cId="1715047744" sldId="273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3072066856" sldId="275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820491272" sldId="277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3914444921" sldId="278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2894187985" sldId="279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923541662" sldId="280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1089715667" sldId="281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1736026236" sldId="282"/>
        </pc:sldMkLst>
      </pc:sldChg>
      <pc:sldChg chg="del">
        <pc:chgData name="Jake Duddy" userId="7a8a0c806e99fd3e" providerId="LiveId" clId="{CCFF1EDE-63BB-4842-AC66-0597FB2EFDF5}" dt="2025-11-25T17:43:39.933" v="7" actId="47"/>
        <pc:sldMkLst>
          <pc:docMk/>
          <pc:sldMk cId="2603280857" sldId="283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3451289127" sldId="284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2677008088" sldId="285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612898767" sldId="286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4004143657" sldId="287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3009928718" sldId="288"/>
        </pc:sldMkLst>
      </pc:sldChg>
      <pc:sldChg chg="del">
        <pc:chgData name="Jake Duddy" userId="7a8a0c806e99fd3e" providerId="LiveId" clId="{CCFF1EDE-63BB-4842-AC66-0597FB2EFDF5}" dt="2025-11-25T17:42:16.751" v="0" actId="47"/>
        <pc:sldMkLst>
          <pc:docMk/>
          <pc:sldMk cId="2778347506" sldId="289"/>
        </pc:sldMkLst>
      </pc:sldChg>
      <pc:sldChg chg="del">
        <pc:chgData name="Jake Duddy" userId="7a8a0c806e99fd3e" providerId="LiveId" clId="{CCFF1EDE-63BB-4842-AC66-0597FB2EFDF5}" dt="2025-11-25T17:43:29.268" v="5" actId="47"/>
        <pc:sldMkLst>
          <pc:docMk/>
          <pc:sldMk cId="1653492328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CDFA-3271-9DA1-1563-9E816657D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E1B0B-9C5C-9264-4C16-AE1E718EC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354FB-427C-5056-DED3-0AFFE68FC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18F60-83C9-BAE9-6800-BFE72CF1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60CEB-5EA0-F87D-CFD5-0872B0ED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74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7282-0F76-FADB-7B01-11F78E062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E1DC-EDAA-3622-FCB2-F601BF2A9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6DEF4-0953-FB48-2419-1FA44ECB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FBE60-170E-F577-00E0-F083E498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69F68-294D-5560-ACCC-A0F94B9A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094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E8E6-3CDD-7F81-91CE-8D8AADCD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4C3DC-C6CD-8B4E-9872-9611DA42E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F35A8-5248-1DF3-A429-3FCCD85D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4B254-BE96-207F-6354-1E4463A4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8C263-9318-E3D9-062F-C6D14DEE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191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6197-64D9-8102-EE6B-126A43D9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63A69-9BE1-35DA-A711-078963391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EA6C7-4B30-3F4F-5B92-5E2D35356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FD226-FC0C-0BEB-C6EF-172F634B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C6C1D-8ECF-9EBA-559D-A55CA8630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6C70F-1D8C-3246-EC33-71624F87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71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F1B1-CF78-0BF8-8B9A-21EB7D19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1B1C4-467B-2816-9B3F-9C328B6A2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07F9B-29C3-5775-A563-5D327C53F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580E2C-CB94-56CB-979F-C3A1B7E3F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9D050-3D36-2861-2A9A-E7B8DA21C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64C979-2C59-1A0A-0B92-EDF5E896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B48242-D64A-EDAD-F69F-EA70CB41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62A88-7AD3-A0E7-1C62-C58EBAC2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4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D67B-7E30-56C1-A077-BCEC1601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E3A70-36C9-7EF3-D764-85A4078A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9D59E-0000-F9E5-22BF-0589FD4F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89194-3D5C-FB50-D4B0-F9F42A4C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84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55FCA-8369-BCD4-70FA-946B3A97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A5E3C-4367-AF03-2623-576BD213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6AC8A-D9EC-7496-E81A-42AAD896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334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4E0B-EA4C-E013-7915-90D3B8FD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89F84-B50E-CABA-0080-0BE9F25D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FAD9D-0627-1D9A-67BA-8E2D8F2AD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83AF6-9582-0D5A-60B3-0F1A2C1DC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A80B6-6008-759E-8B4D-F846F028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504FD-33B7-3994-FF28-3EE4394F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24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D9C3-CA54-A6F8-7604-71F02922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ADA82C-C662-32FF-45B7-39F221D52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62142-E682-C9E1-1DBE-7D52D0FCE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AD776-391A-CB81-B62F-7C1AF089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C0D19-A620-4951-0B97-36FF6129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76BAB-C63A-46DE-1DE6-740B33BF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440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78AE-6BAF-21DC-03DF-B8A29E87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17395-5C77-4797-9FFC-C37B06D71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F199D-124E-A7C5-5E35-BA70F9895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BB626-0E43-85D8-737F-EBF65A1B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AFBE8-7D3B-010F-EE68-8441CF05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89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18D350-6A00-F28D-0829-C882C94A9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795D8-83A5-4782-6299-BD835BA60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61C28-4BEE-A849-6731-CCB76DF2F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73851-EFC4-576B-548C-F3C68752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81DB4-A438-8867-4ADE-029BC201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67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8F6CD-609C-9A77-DC50-536EC786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6D476-FD18-7D2D-6684-E8856549C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7F778-FD34-EC0D-AA97-02FCAB028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765AC-4321-4C4E-8A2D-60007643505B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93CED-8E50-2FA2-50B0-A82A791FE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35BFD-BBD8-48D9-1B5B-2189A038D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86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222617F-D3A4-600C-A967-1FEC73F068D5}"/>
              </a:ext>
            </a:extLst>
          </p:cNvPr>
          <p:cNvSpPr txBox="1">
            <a:spLocks/>
          </p:cNvSpPr>
          <p:nvPr/>
        </p:nvSpPr>
        <p:spPr>
          <a:xfrm>
            <a:off x="838200" y="2709908"/>
            <a:ext cx="10593977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b="1" dirty="0">
                <a:solidFill>
                  <a:srgbClr val="284C49"/>
                </a:solidFill>
                <a:highlight>
                  <a:srgbClr val="FFFFFF"/>
                </a:highlight>
                <a:latin typeface="Graphik Meetup"/>
              </a:rPr>
              <a:t>Unlocking New Possibilities</a:t>
            </a:r>
          </a:p>
          <a:p>
            <a:r>
              <a:rPr lang="en-GB" sz="4000" b="1" dirty="0">
                <a:solidFill>
                  <a:srgbClr val="284C49"/>
                </a:solidFill>
                <a:highlight>
                  <a:srgbClr val="FFFFFF"/>
                </a:highlight>
                <a:latin typeface="Graphik Meetup"/>
              </a:rPr>
              <a:t>Enhancing Power BI with SVGs</a:t>
            </a:r>
            <a:endParaRPr lang="en-GB" sz="4000" dirty="0">
              <a:solidFill>
                <a:srgbClr val="284C49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2FF10E9-901D-B0D8-E914-F83F0E9DBE35}"/>
              </a:ext>
            </a:extLst>
          </p:cNvPr>
          <p:cNvSpPr txBox="1">
            <a:spLocks/>
          </p:cNvSpPr>
          <p:nvPr/>
        </p:nvSpPr>
        <p:spPr>
          <a:xfrm>
            <a:off x="838200" y="4082143"/>
            <a:ext cx="10515600" cy="2094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rgbClr val="478F8C"/>
                </a:solidFill>
              </a:rPr>
              <a:t>Jake Duddy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478F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43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C634A8-FD24-1278-57E6-1B795418A9B2}"/>
              </a:ext>
            </a:extLst>
          </p:cNvPr>
          <p:cNvGrpSpPr>
            <a:grpSpLocks noChangeAspect="1"/>
          </p:cNvGrpSpPr>
          <p:nvPr/>
        </p:nvGrpSpPr>
        <p:grpSpPr>
          <a:xfrm>
            <a:off x="4065107" y="3929294"/>
            <a:ext cx="2418048" cy="2751008"/>
            <a:chOff x="1029322" y="2455893"/>
            <a:chExt cx="1803040" cy="205131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46F8F05-72A5-AB58-A312-EB89180D2D1A}"/>
                </a:ext>
              </a:extLst>
            </p:cNvPr>
            <p:cNvSpPr/>
            <p:nvPr/>
          </p:nvSpPr>
          <p:spPr>
            <a:xfrm>
              <a:off x="1029322" y="2491317"/>
              <a:ext cx="1803040" cy="1767616"/>
            </a:xfrm>
            <a:prstGeom prst="roundRect">
              <a:avLst>
                <a:gd name="adj" fmla="val 68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76BAA50-2A78-C82A-8B9B-510728C8A5BF}"/>
                </a:ext>
              </a:extLst>
            </p:cNvPr>
            <p:cNvGrpSpPr/>
            <p:nvPr/>
          </p:nvGrpSpPr>
          <p:grpSpPr>
            <a:xfrm>
              <a:off x="1029322" y="2455893"/>
              <a:ext cx="1803040" cy="2051315"/>
              <a:chOff x="4328299" y="4325248"/>
              <a:chExt cx="1803040" cy="2051315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3486058-3292-0424-9154-99B74094213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28299" y="4325248"/>
                <a:ext cx="1803040" cy="1803040"/>
                <a:chOff x="6310385" y="1254510"/>
                <a:chExt cx="3240161" cy="3240161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87321143-AEAF-2B4F-06E9-EFBC06E3C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074D49">
                      <a:tint val="45000"/>
                      <a:satMod val="400000"/>
                    </a:srgbClr>
                  </a:duotone>
                </a:blip>
                <a:stretch>
                  <a:fillRect/>
                </a:stretch>
              </p:blipFill>
              <p:spPr>
                <a:xfrm>
                  <a:off x="6310385" y="1254510"/>
                  <a:ext cx="3240161" cy="3240161"/>
                </a:xfrm>
                <a:prstGeom prst="rect">
                  <a:avLst/>
                </a:prstGeom>
              </p:spPr>
            </p:pic>
            <p:pic>
              <p:nvPicPr>
                <p:cNvPr id="17" name="Picture 2" descr="avatar">
                  <a:extLst>
                    <a:ext uri="{FF2B5EF4-FFF2-40B4-BE49-F238E27FC236}">
                      <a16:creationId xmlns:a16="http://schemas.microsoft.com/office/drawing/2014/main" id="{9F3A2C4C-B6AA-6C2F-9179-B43A4C4E17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64529" y="2578853"/>
                  <a:ext cx="731871" cy="73187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94DADC-0DAC-B903-DBDB-72ED3C38F7D7}"/>
                  </a:ext>
                </a:extLst>
              </p:cNvPr>
              <p:cNvSpPr txBox="1"/>
              <p:nvPr/>
            </p:nvSpPr>
            <p:spPr>
              <a:xfrm>
                <a:off x="4328299" y="6145731"/>
                <a:ext cx="180304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evaluationcontext.github.io/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3B2667-7E4D-163F-E3ED-CEC7A13994DF}"/>
              </a:ext>
            </a:extLst>
          </p:cNvPr>
          <p:cNvGrpSpPr>
            <a:grpSpLocks noChangeAspect="1"/>
          </p:cNvGrpSpPr>
          <p:nvPr/>
        </p:nvGrpSpPr>
        <p:grpSpPr>
          <a:xfrm>
            <a:off x="6949399" y="3929294"/>
            <a:ext cx="2482218" cy="2797874"/>
            <a:chOff x="1037916" y="4617388"/>
            <a:chExt cx="1850889" cy="208626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DC3B964-7A81-9CB7-996E-21DFB39DB900}"/>
                </a:ext>
              </a:extLst>
            </p:cNvPr>
            <p:cNvSpPr/>
            <p:nvPr/>
          </p:nvSpPr>
          <p:spPr>
            <a:xfrm>
              <a:off x="1057704" y="4652377"/>
              <a:ext cx="1803040" cy="1803040"/>
            </a:xfrm>
            <a:prstGeom prst="roundRect">
              <a:avLst>
                <a:gd name="adj" fmla="val 68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4564478-B326-4E2F-558B-D5D0DE4A528E}"/>
                </a:ext>
              </a:extLst>
            </p:cNvPr>
            <p:cNvGrpSpPr/>
            <p:nvPr/>
          </p:nvGrpSpPr>
          <p:grpSpPr>
            <a:xfrm>
              <a:off x="1037916" y="4617388"/>
              <a:ext cx="1850889" cy="2086261"/>
              <a:chOff x="6471477" y="4301323"/>
              <a:chExt cx="1850889" cy="2086261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CDBA567-4C06-88FC-AA13-B3F8BEA928E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71477" y="4301323"/>
                <a:ext cx="1850889" cy="1850889"/>
                <a:chOff x="1559491" y="1198144"/>
                <a:chExt cx="3240162" cy="3240162"/>
              </a:xfrm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FE96CA94-402E-6829-E4DA-CBCA002627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4567AC">
                      <a:tint val="45000"/>
                      <a:satMod val="400000"/>
                    </a:srgbClr>
                  </a:duotone>
                </a:blip>
                <a:stretch>
                  <a:fillRect/>
                </a:stretch>
              </p:blipFill>
              <p:spPr>
                <a:xfrm>
                  <a:off x="1559491" y="1198144"/>
                  <a:ext cx="3240162" cy="3240162"/>
                </a:xfrm>
                <a:prstGeom prst="rect">
                  <a:avLst/>
                </a:prstGeom>
              </p:spPr>
            </p:pic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3B2317A-20BF-BFB3-5771-09283A42D0F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794181" y="2508654"/>
                  <a:ext cx="731871" cy="731871"/>
                  <a:chOff x="2611313" y="2374495"/>
                  <a:chExt cx="997356" cy="997356"/>
                </a:xfrm>
              </p:grpSpPr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3B36B85B-9FAD-B8C9-C914-3825532000E9}"/>
                      </a:ext>
                    </a:extLst>
                  </p:cNvPr>
                  <p:cNvSpPr/>
                  <p:nvPr/>
                </p:nvSpPr>
                <p:spPr>
                  <a:xfrm>
                    <a:off x="2611313" y="2374495"/>
                    <a:ext cx="997356" cy="997356"/>
                  </a:xfrm>
                  <a:prstGeom prst="rect">
                    <a:avLst/>
                  </a:prstGeom>
                  <a:solidFill>
                    <a:srgbClr val="4567A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pic>
                <p:nvPicPr>
                  <p:cNvPr id="29" name="Picture 28">
                    <a:extLst>
                      <a:ext uri="{FF2B5EF4-FFF2-40B4-BE49-F238E27FC236}">
                        <a16:creationId xmlns:a16="http://schemas.microsoft.com/office/drawing/2014/main" id="{0399DC86-4A81-15B5-FA83-D382D07FD0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rcRect l="9006" t="9049" r="6976" b="9333"/>
                  <a:stretch/>
                </p:blipFill>
                <p:spPr>
                  <a:xfrm>
                    <a:off x="2707664" y="2470159"/>
                    <a:ext cx="837945" cy="81653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6E8A50-F8D5-684E-FCCE-5F24B4E22663}"/>
                  </a:ext>
                </a:extLst>
              </p:cNvPr>
              <p:cNvSpPr txBox="1"/>
              <p:nvPr/>
            </p:nvSpPr>
            <p:spPr>
              <a:xfrm>
                <a:off x="6471477" y="6156752"/>
                <a:ext cx="1850889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pPr algn="ctr"/>
                <a:r>
                  <a:rPr lang="en-GB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linkedin.com/in/jakeduddy/</a:t>
                </a:r>
              </a:p>
            </p:txBody>
          </p:sp>
        </p:grpSp>
      </p:grp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D0D6FE6D-FF96-CD36-62FA-AE6B83D81826}"/>
              </a:ext>
            </a:extLst>
          </p:cNvPr>
          <p:cNvSpPr txBox="1">
            <a:spLocks/>
          </p:cNvSpPr>
          <p:nvPr/>
        </p:nvSpPr>
        <p:spPr>
          <a:xfrm>
            <a:off x="4039146" y="2173978"/>
            <a:ext cx="9532646" cy="170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478F8C"/>
                </a:solidFill>
              </a:rPr>
              <a:t>Data Platform Microsoft MVP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478F8C"/>
                </a:solidFill>
              </a:rPr>
              <a:t>Fabric Community Super User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478F8C"/>
                </a:solidFill>
              </a:rPr>
              <a:t>EvaluationContext Blog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478F8C"/>
                </a:solidFill>
              </a:rPr>
              <a:t>Devon and Cornwall Power BI Group Co-organizer</a:t>
            </a:r>
          </a:p>
          <a:p>
            <a:pPr marL="0" indent="0">
              <a:buNone/>
            </a:pPr>
            <a:endParaRPr lang="en-GB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5615E17-DDCB-393F-7578-2B32FBC19DB4}"/>
              </a:ext>
            </a:extLst>
          </p:cNvPr>
          <p:cNvGrpSpPr>
            <a:grpSpLocks noChangeAspect="1"/>
          </p:cNvGrpSpPr>
          <p:nvPr/>
        </p:nvGrpSpPr>
        <p:grpSpPr>
          <a:xfrm>
            <a:off x="373489" y="962701"/>
            <a:ext cx="2989482" cy="2966593"/>
            <a:chOff x="1256482" y="622666"/>
            <a:chExt cx="1746418" cy="1733046"/>
          </a:xfrm>
        </p:grpSpPr>
        <p:pic>
          <p:nvPicPr>
            <p:cNvPr id="53" name="Picture 52" descr="A person standing behind a desk with a computer&#10;&#10;AI-generated content may be incorrect.">
              <a:extLst>
                <a:ext uri="{FF2B5EF4-FFF2-40B4-BE49-F238E27FC236}">
                  <a16:creationId xmlns:a16="http://schemas.microsoft.com/office/drawing/2014/main" id="{DDF2E63B-BFB2-A9F2-B9A7-F75409921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247" t="2790" r="6110" b="1121"/>
            <a:stretch>
              <a:fillRect/>
            </a:stretch>
          </p:blipFill>
          <p:spPr>
            <a:xfrm>
              <a:off x="1274900" y="627712"/>
              <a:ext cx="1728000" cy="1728000"/>
            </a:xfrm>
            <a:custGeom>
              <a:avLst/>
              <a:gdLst>
                <a:gd name="connsiteX0" fmla="*/ 864000 w 1728000"/>
                <a:gd name="connsiteY0" fmla="*/ 0 h 1728000"/>
                <a:gd name="connsiteX1" fmla="*/ 1728000 w 1728000"/>
                <a:gd name="connsiteY1" fmla="*/ 864000 h 1728000"/>
                <a:gd name="connsiteX2" fmla="*/ 864000 w 1728000"/>
                <a:gd name="connsiteY2" fmla="*/ 1728000 h 1728000"/>
                <a:gd name="connsiteX3" fmla="*/ 0 w 1728000"/>
                <a:gd name="connsiteY3" fmla="*/ 864000 h 1728000"/>
                <a:gd name="connsiteX4" fmla="*/ 864000 w 1728000"/>
                <a:gd name="connsiteY4" fmla="*/ 0 h 172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000" h="1728000">
                  <a:moveTo>
                    <a:pt x="864000" y="0"/>
                  </a:moveTo>
                  <a:cubicBezTo>
                    <a:pt x="1341174" y="0"/>
                    <a:pt x="1728000" y="386826"/>
                    <a:pt x="1728000" y="864000"/>
                  </a:cubicBezTo>
                  <a:cubicBezTo>
                    <a:pt x="1728000" y="1341174"/>
                    <a:pt x="1341174" y="1728000"/>
                    <a:pt x="864000" y="1728000"/>
                  </a:cubicBezTo>
                  <a:cubicBezTo>
                    <a:pt x="386826" y="1728000"/>
                    <a:pt x="0" y="1341174"/>
                    <a:pt x="0" y="864000"/>
                  </a:cubicBezTo>
                  <a:cubicBezTo>
                    <a:pt x="0" y="386826"/>
                    <a:pt x="386826" y="0"/>
                    <a:pt x="864000" y="0"/>
                  </a:cubicBezTo>
                  <a:close/>
                </a:path>
              </a:pathLst>
            </a:custGeom>
          </p:spPr>
        </p:pic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9231BE7-67F7-7AA8-99B9-EB308D920B03}"/>
                </a:ext>
              </a:extLst>
            </p:cNvPr>
            <p:cNvSpPr/>
            <p:nvPr/>
          </p:nvSpPr>
          <p:spPr>
            <a:xfrm>
              <a:off x="1256482" y="622666"/>
              <a:ext cx="1728000" cy="1728000"/>
            </a:xfrm>
            <a:prstGeom prst="ellipse">
              <a:avLst/>
            </a:prstGeom>
            <a:noFill/>
            <a:ln w="76200">
              <a:solidFill>
                <a:srgbClr val="074D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79E33E9-2FC8-2C8B-4B31-93597D74870D}"/>
              </a:ext>
            </a:extLst>
          </p:cNvPr>
          <p:cNvSpPr txBox="1"/>
          <p:nvPr/>
        </p:nvSpPr>
        <p:spPr>
          <a:xfrm>
            <a:off x="4039146" y="1349659"/>
            <a:ext cx="36754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074D49"/>
                </a:solidFill>
              </a:rPr>
              <a:t>Jake Duddy</a:t>
            </a:r>
          </a:p>
        </p:txBody>
      </p:sp>
      <p:pic>
        <p:nvPicPr>
          <p:cNvPr id="63" name="Picture 62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8D4FF37A-F504-DE90-569E-E6E08B0F72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947" y="0"/>
            <a:ext cx="2289053" cy="92354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F3DB169-F66D-EEE8-5852-0DC3BCCB93B0}"/>
              </a:ext>
            </a:extLst>
          </p:cNvPr>
          <p:cNvSpPr txBox="1">
            <a:spLocks/>
          </p:cNvSpPr>
          <p:nvPr/>
        </p:nvSpPr>
        <p:spPr>
          <a:xfrm>
            <a:off x="789607" y="4082143"/>
            <a:ext cx="2218635" cy="529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rgbClr val="074D49"/>
                </a:solidFill>
              </a:rPr>
              <a:t>Jake Duddy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478F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87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587D-3328-5E66-9D60-7C7868B6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Vector vs Raster 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41E635-FC2F-EFC2-BB01-27615B9A92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9377207"/>
              </p:ext>
            </p:extLst>
          </p:nvPr>
        </p:nvGraphicFramePr>
        <p:xfrm>
          <a:off x="838200" y="1825625"/>
          <a:ext cx="10515600" cy="1559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090725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23141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Raster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Vector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701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JPEG, PNG etc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Colour per pixel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Blurry or pixelated when scaled up or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SVG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Defined as Code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Scales to any size without losing quality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Animation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86529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A4CC03B-0ECA-4EC2-D04B-A6EC5B6D1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775" y="3520122"/>
            <a:ext cx="2381250" cy="2590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FB57FB-0D7D-50A3-593E-ABFADF43C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46" y="3520122"/>
            <a:ext cx="5228136" cy="7426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400E05-2D83-03B9-2A62-3C224837D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532" y="4463003"/>
            <a:ext cx="1482195" cy="148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96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ED1A4-FBB7-533C-E425-A80AF57D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DB2F-D070-C208-8336-08B71C6A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SVG Elements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036DF-6F79-CBC8-D01E-C92B6F521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Shapes</a:t>
            </a:r>
          </a:p>
          <a:p>
            <a:pPr lvl="1"/>
            <a:r>
              <a:rPr lang="en-GB" dirty="0"/>
              <a:t>Rectangles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 err="1">
                <a:solidFill>
                  <a:srgbClr val="CC342B"/>
                </a:solidFill>
                <a:latin typeface="Consolas" panose="020B0609020204030204" pitchFamily="49" charset="0"/>
              </a:rPr>
              <a:t>rect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Circles 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CC342B"/>
                </a:solidFill>
                <a:latin typeface="Consolas" panose="020B0609020204030204" pitchFamily="49" charset="0"/>
              </a:rPr>
              <a:t>circle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Ellipses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CC342B"/>
                </a:solidFill>
                <a:latin typeface="Consolas" panose="020B0609020204030204" pitchFamily="49" charset="0"/>
              </a:rPr>
              <a:t>ellipse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Lines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CC342B"/>
                </a:solidFill>
                <a:latin typeface="Consolas" panose="020B0609020204030204" pitchFamily="49" charset="0"/>
              </a:rPr>
              <a:t>line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Polygons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CC342B"/>
                </a:solidFill>
                <a:latin typeface="Consolas" panose="020B0609020204030204" pitchFamily="49" charset="0"/>
              </a:rPr>
              <a:t>polygon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Path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CC342B"/>
                </a:solidFill>
                <a:latin typeface="Consolas" panose="020B0609020204030204" pitchFamily="49" charset="0"/>
              </a:rPr>
              <a:t>path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Text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CC342B"/>
                </a:solidFill>
                <a:latin typeface="Consolas" panose="020B0609020204030204" pitchFamily="49" charset="0"/>
              </a:rPr>
              <a:t>text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r>
              <a:rPr lang="en-GB" dirty="0"/>
              <a:t>Filters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 err="1">
                <a:solidFill>
                  <a:srgbClr val="CC342B"/>
                </a:solidFill>
                <a:latin typeface="Consolas" panose="020B0609020204030204" pitchFamily="49" charset="0"/>
              </a:rPr>
              <a:t>feGaussianBlur</a:t>
            </a:r>
            <a:r>
              <a:rPr lang="en-GB" sz="1700" dirty="0">
                <a:latin typeface="Consolas" panose="020B0609020204030204" pitchFamily="49" charset="0"/>
              </a:rPr>
              <a:t>&gt; &lt;</a:t>
            </a:r>
            <a:r>
              <a:rPr lang="en-GB" sz="1700" dirty="0" err="1">
                <a:solidFill>
                  <a:srgbClr val="CC342B"/>
                </a:solidFill>
                <a:latin typeface="Consolas" panose="020B0609020204030204" pitchFamily="49" charset="0"/>
              </a:rPr>
              <a:t>feComponentTransfer</a:t>
            </a:r>
            <a:r>
              <a:rPr lang="en-GB" sz="1700" dirty="0">
                <a:latin typeface="Consolas" panose="020B0609020204030204" pitchFamily="49" charset="0"/>
              </a:rPr>
              <a:t>&gt; …</a:t>
            </a:r>
          </a:p>
          <a:p>
            <a:r>
              <a:rPr lang="en-GB" dirty="0"/>
              <a:t>Animation	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C5F295-313B-F651-E649-11E3D65E1A23}"/>
              </a:ext>
            </a:extLst>
          </p:cNvPr>
          <p:cNvSpPr/>
          <p:nvPr/>
        </p:nvSpPr>
        <p:spPr>
          <a:xfrm>
            <a:off x="6229350" y="2368550"/>
            <a:ext cx="360000" cy="25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5052F1-5A85-3138-07D5-2A30806C3E94}"/>
              </a:ext>
            </a:extLst>
          </p:cNvPr>
          <p:cNvSpPr/>
          <p:nvPr/>
        </p:nvSpPr>
        <p:spPr>
          <a:xfrm>
            <a:off x="6283350" y="2762250"/>
            <a:ext cx="252000" cy="25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84A0A8-A032-3F26-5DFB-6A3CA7763C5F}"/>
              </a:ext>
            </a:extLst>
          </p:cNvPr>
          <p:cNvSpPr/>
          <p:nvPr/>
        </p:nvSpPr>
        <p:spPr>
          <a:xfrm>
            <a:off x="6251600" y="3134900"/>
            <a:ext cx="324000" cy="25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479BB7-2D9C-232D-CE3F-AC53AC9C9974}"/>
              </a:ext>
            </a:extLst>
          </p:cNvPr>
          <p:cNvCxnSpPr/>
          <p:nvPr/>
        </p:nvCxnSpPr>
        <p:spPr>
          <a:xfrm>
            <a:off x="6283350" y="3676650"/>
            <a:ext cx="30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entagon 11">
            <a:extLst>
              <a:ext uri="{FF2B5EF4-FFF2-40B4-BE49-F238E27FC236}">
                <a16:creationId xmlns:a16="http://schemas.microsoft.com/office/drawing/2014/main" id="{3B3C2520-37A6-BAF9-6832-CF74D16EE86D}"/>
              </a:ext>
            </a:extLst>
          </p:cNvPr>
          <p:cNvSpPr/>
          <p:nvPr/>
        </p:nvSpPr>
        <p:spPr>
          <a:xfrm>
            <a:off x="6283350" y="3854450"/>
            <a:ext cx="337750" cy="251996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7CF7EC-D0EC-3AA3-7897-FDE3EC1E3A4C}"/>
              </a:ext>
            </a:extLst>
          </p:cNvPr>
          <p:cNvSpPr txBox="1"/>
          <p:nvPr/>
        </p:nvSpPr>
        <p:spPr>
          <a:xfrm>
            <a:off x="6184900" y="464937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foo</a:t>
            </a: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958B698B-4B8C-DF55-2C1B-A0BD38218E4B}"/>
              </a:ext>
            </a:extLst>
          </p:cNvPr>
          <p:cNvSpPr/>
          <p:nvPr/>
        </p:nvSpPr>
        <p:spPr>
          <a:xfrm>
            <a:off x="6115050" y="4394191"/>
            <a:ext cx="736600" cy="125363"/>
          </a:xfrm>
          <a:custGeom>
            <a:avLst/>
            <a:gdLst>
              <a:gd name="connsiteX0" fmla="*/ 0 w 736600"/>
              <a:gd name="connsiteY0" fmla="*/ 114309 h 125363"/>
              <a:gd name="connsiteX1" fmla="*/ 165100 w 736600"/>
              <a:gd name="connsiteY1" fmla="*/ 9 h 125363"/>
              <a:gd name="connsiteX2" fmla="*/ 323850 w 736600"/>
              <a:gd name="connsiteY2" fmla="*/ 107959 h 125363"/>
              <a:gd name="connsiteX3" fmla="*/ 603250 w 736600"/>
              <a:gd name="connsiteY3" fmla="*/ 114309 h 125363"/>
              <a:gd name="connsiteX4" fmla="*/ 736600 w 736600"/>
              <a:gd name="connsiteY4" fmla="*/ 9 h 125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00" h="125363">
                <a:moveTo>
                  <a:pt x="0" y="114309"/>
                </a:moveTo>
                <a:cubicBezTo>
                  <a:pt x="55562" y="57688"/>
                  <a:pt x="111125" y="1067"/>
                  <a:pt x="165100" y="9"/>
                </a:cubicBezTo>
                <a:cubicBezTo>
                  <a:pt x="219075" y="-1049"/>
                  <a:pt x="250825" y="88909"/>
                  <a:pt x="323850" y="107959"/>
                </a:cubicBezTo>
                <a:cubicBezTo>
                  <a:pt x="396875" y="127009"/>
                  <a:pt x="534458" y="132301"/>
                  <a:pt x="603250" y="114309"/>
                </a:cubicBezTo>
                <a:cubicBezTo>
                  <a:pt x="672042" y="96317"/>
                  <a:pt x="704321" y="48163"/>
                  <a:pt x="736600" y="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00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8123</TotalTime>
  <Words>141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Graphik Meetup</vt:lpstr>
      <vt:lpstr>Office Theme</vt:lpstr>
      <vt:lpstr>PowerPoint Presentation</vt:lpstr>
      <vt:lpstr>PowerPoint Presentation</vt:lpstr>
      <vt:lpstr>Vector vs Raster </vt:lpstr>
      <vt:lpstr>SVG Elements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Duddy</dc:creator>
  <cp:lastModifiedBy>Jake Duddy</cp:lastModifiedBy>
  <cp:revision>1</cp:revision>
  <dcterms:created xsi:type="dcterms:W3CDTF">2025-04-08T20:32:31Z</dcterms:created>
  <dcterms:modified xsi:type="dcterms:W3CDTF">2025-11-25T17:43:43Z</dcterms:modified>
</cp:coreProperties>
</file>