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10" r:id="rId4"/>
    <p:sldId id="313" r:id="rId5"/>
    <p:sldId id="318" r:id="rId6"/>
    <p:sldId id="316" r:id="rId7"/>
    <p:sldId id="317" r:id="rId8"/>
    <p:sldId id="321" r:id="rId9"/>
    <p:sldId id="3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69E8E6-D448-452F-8EB9-A05031E9DE4B}">
          <p14:sldIdLst>
            <p14:sldId id="257"/>
            <p14:sldId id="258"/>
            <p14:sldId id="310"/>
            <p14:sldId id="313"/>
            <p14:sldId id="318"/>
            <p14:sldId id="316"/>
            <p14:sldId id="317"/>
            <p14:sldId id="321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A595"/>
    <a:srgbClr val="074D49"/>
    <a:srgbClr val="243A5E"/>
    <a:srgbClr val="7F7F7F"/>
    <a:srgbClr val="4567AC"/>
    <a:srgbClr val="111111"/>
    <a:srgbClr val="C66F7D"/>
    <a:srgbClr val="D75F58"/>
    <a:srgbClr val="1CC0A5"/>
    <a:srgbClr val="397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A09421-8A24-42CF-9154-6DAE89D26680}" v="20" dt="2026-02-03T23:46:22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Duddy" userId="7a8a0c806e99fd3e" providerId="LiveId" clId="{CCFF1EDE-63BB-4842-AC66-0597FB2EFDF5}"/>
    <pc:docChg chg="undo custSel addSld delSld modSld sldOrd delSection modSection">
      <pc:chgData name="Jake Duddy" userId="7a8a0c806e99fd3e" providerId="LiveId" clId="{CCFF1EDE-63BB-4842-AC66-0597FB2EFDF5}" dt="2026-02-05T12:28:19.816" v="1939" actId="20577"/>
      <pc:docMkLst>
        <pc:docMk/>
      </pc:docMkLst>
      <pc:sldChg chg="modSp mod">
        <pc:chgData name="Jake Duddy" userId="7a8a0c806e99fd3e" providerId="LiveId" clId="{CCFF1EDE-63BB-4842-AC66-0597FB2EFDF5}" dt="2026-02-03T22:20:12.300" v="6" actId="27636"/>
        <pc:sldMkLst>
          <pc:docMk/>
          <pc:sldMk cId="3614430531" sldId="257"/>
        </pc:sldMkLst>
        <pc:spChg chg="mod">
          <ac:chgData name="Jake Duddy" userId="7a8a0c806e99fd3e" providerId="LiveId" clId="{CCFF1EDE-63BB-4842-AC66-0597FB2EFDF5}" dt="2026-02-03T22:20:12.300" v="6" actId="27636"/>
          <ac:spMkLst>
            <pc:docMk/>
            <pc:sldMk cId="3614430531" sldId="257"/>
            <ac:spMk id="12" creationId="{1222617F-D3A4-600C-A967-1FEC73F068D5}"/>
          </ac:spMkLst>
        </pc:spChg>
      </pc:sldChg>
      <pc:sldChg chg="addSp delSp modSp mod">
        <pc:chgData name="Jake Duddy" userId="7a8a0c806e99fd3e" providerId="LiveId" clId="{CCFF1EDE-63BB-4842-AC66-0597FB2EFDF5}" dt="2026-02-03T22:20:45.629" v="13" actId="1076"/>
        <pc:sldMkLst>
          <pc:docMk/>
          <pc:sldMk cId="2639873418" sldId="258"/>
        </pc:sldMkLst>
        <pc:picChg chg="add mod">
          <ac:chgData name="Jake Duddy" userId="7a8a0c806e99fd3e" providerId="LiveId" clId="{CCFF1EDE-63BB-4842-AC66-0597FB2EFDF5}" dt="2026-02-03T22:20:45.629" v="13" actId="1076"/>
          <ac:picMkLst>
            <pc:docMk/>
            <pc:sldMk cId="2639873418" sldId="258"/>
            <ac:picMk id="5" creationId="{407688CE-8FE4-F063-3809-C5F2E2C27A2B}"/>
          </ac:picMkLst>
        </pc:picChg>
      </pc:sldChg>
      <pc:sldChg chg="delSp modSp mod delAnim">
        <pc:chgData name="Jake Duddy" userId="7a8a0c806e99fd3e" providerId="LiveId" clId="{CCFF1EDE-63BB-4842-AC66-0597FB2EFDF5}" dt="2026-02-05T12:25:40.180" v="1937" actId="20577"/>
        <pc:sldMkLst>
          <pc:docMk/>
          <pc:sldMk cId="3492570063" sldId="310"/>
        </pc:sldMkLst>
        <pc:spChg chg="mod">
          <ac:chgData name="Jake Duddy" userId="7a8a0c806e99fd3e" providerId="LiveId" clId="{CCFF1EDE-63BB-4842-AC66-0597FB2EFDF5}" dt="2026-02-03T22:21:18.425" v="30" actId="20577"/>
          <ac:spMkLst>
            <pc:docMk/>
            <pc:sldMk cId="3492570063" sldId="310"/>
            <ac:spMk id="2" creationId="{63115E85-C88D-C3D7-5FBF-89AE2497E758}"/>
          </ac:spMkLst>
        </pc:spChg>
        <pc:spChg chg="mod">
          <ac:chgData name="Jake Duddy" userId="7a8a0c806e99fd3e" providerId="LiveId" clId="{CCFF1EDE-63BB-4842-AC66-0597FB2EFDF5}" dt="2026-02-05T12:25:40.180" v="1937" actId="20577"/>
          <ac:spMkLst>
            <pc:docMk/>
            <pc:sldMk cId="3492570063" sldId="310"/>
            <ac:spMk id="3" creationId="{1349E1C4-FF75-874E-58FB-057306D9CB7A}"/>
          </ac:spMkLst>
        </pc:spChg>
      </pc:sldChg>
      <pc:sldChg chg="addSp delSp modSp add mod ord">
        <pc:chgData name="Jake Duddy" userId="7a8a0c806e99fd3e" providerId="LiveId" clId="{CCFF1EDE-63BB-4842-AC66-0597FB2EFDF5}" dt="2026-02-03T22:48:38.331" v="942" actId="20577"/>
        <pc:sldMkLst>
          <pc:docMk/>
          <pc:sldMk cId="482866262" sldId="313"/>
        </pc:sldMkLst>
        <pc:spChg chg="mod">
          <ac:chgData name="Jake Duddy" userId="7a8a0c806e99fd3e" providerId="LiveId" clId="{CCFF1EDE-63BB-4842-AC66-0597FB2EFDF5}" dt="2026-02-03T22:31:35.536" v="576" actId="20577"/>
          <ac:spMkLst>
            <pc:docMk/>
            <pc:sldMk cId="482866262" sldId="313"/>
            <ac:spMk id="2" creationId="{DA584B48-C7E0-4CB4-5686-01035ECEC601}"/>
          </ac:spMkLst>
        </pc:spChg>
        <pc:spChg chg="mod">
          <ac:chgData name="Jake Duddy" userId="7a8a0c806e99fd3e" providerId="LiveId" clId="{CCFF1EDE-63BB-4842-AC66-0597FB2EFDF5}" dt="2026-02-03T22:48:38.331" v="942" actId="20577"/>
          <ac:spMkLst>
            <pc:docMk/>
            <pc:sldMk cId="482866262" sldId="313"/>
            <ac:spMk id="3" creationId="{1B790731-DA45-58CC-CE5C-227FEE87D8BD}"/>
          </ac:spMkLst>
        </pc:spChg>
      </pc:sldChg>
      <pc:sldChg chg="modSp add mod ord">
        <pc:chgData name="Jake Duddy" userId="7a8a0c806e99fd3e" providerId="LiveId" clId="{CCFF1EDE-63BB-4842-AC66-0597FB2EFDF5}" dt="2026-02-03T22:53:35.607" v="1041" actId="313"/>
        <pc:sldMkLst>
          <pc:docMk/>
          <pc:sldMk cId="3508797785" sldId="316"/>
        </pc:sldMkLst>
        <pc:spChg chg="mod">
          <ac:chgData name="Jake Duddy" userId="7a8a0c806e99fd3e" providerId="LiveId" clId="{CCFF1EDE-63BB-4842-AC66-0597FB2EFDF5}" dt="2026-02-03T22:53:08.485" v="971" actId="20577"/>
          <ac:spMkLst>
            <pc:docMk/>
            <pc:sldMk cId="3508797785" sldId="316"/>
            <ac:spMk id="2" creationId="{3F5530B5-A831-35FC-05B0-8507793215E0}"/>
          </ac:spMkLst>
        </pc:spChg>
        <pc:spChg chg="mod">
          <ac:chgData name="Jake Duddy" userId="7a8a0c806e99fd3e" providerId="LiveId" clId="{CCFF1EDE-63BB-4842-AC66-0597FB2EFDF5}" dt="2026-02-03T22:53:35.607" v="1041" actId="313"/>
          <ac:spMkLst>
            <pc:docMk/>
            <pc:sldMk cId="3508797785" sldId="316"/>
            <ac:spMk id="3" creationId="{E9816828-8373-5ACA-9152-11CF7347E2C9}"/>
          </ac:spMkLst>
        </pc:spChg>
      </pc:sldChg>
      <pc:sldChg chg="modSp add mod">
        <pc:chgData name="Jake Duddy" userId="7a8a0c806e99fd3e" providerId="LiveId" clId="{CCFF1EDE-63BB-4842-AC66-0597FB2EFDF5}" dt="2026-02-05T12:28:19.816" v="1939" actId="20577"/>
        <pc:sldMkLst>
          <pc:docMk/>
          <pc:sldMk cId="603354167" sldId="317"/>
        </pc:sldMkLst>
        <pc:spChg chg="mod">
          <ac:chgData name="Jake Duddy" userId="7a8a0c806e99fd3e" providerId="LiveId" clId="{CCFF1EDE-63BB-4842-AC66-0597FB2EFDF5}" dt="2026-02-03T23:03:37.551" v="1086" actId="20577"/>
          <ac:spMkLst>
            <pc:docMk/>
            <pc:sldMk cId="603354167" sldId="317"/>
            <ac:spMk id="2" creationId="{A0B5AA00-146C-3F6D-32F9-DCFFDE83EC2D}"/>
          </ac:spMkLst>
        </pc:spChg>
        <pc:spChg chg="mod">
          <ac:chgData name="Jake Duddy" userId="7a8a0c806e99fd3e" providerId="LiveId" clId="{CCFF1EDE-63BB-4842-AC66-0597FB2EFDF5}" dt="2026-02-05T12:28:19.816" v="1939" actId="20577"/>
          <ac:spMkLst>
            <pc:docMk/>
            <pc:sldMk cId="603354167" sldId="317"/>
            <ac:spMk id="3" creationId="{3E3EE075-8775-09F1-14A8-0AF21BD8A1C1}"/>
          </ac:spMkLst>
        </pc:spChg>
      </pc:sldChg>
      <pc:sldChg chg="modSp add mod">
        <pc:chgData name="Jake Duddy" userId="7a8a0c806e99fd3e" providerId="LiveId" clId="{CCFF1EDE-63BB-4842-AC66-0597FB2EFDF5}" dt="2026-02-03T23:13:03.071" v="1190" actId="20577"/>
        <pc:sldMkLst>
          <pc:docMk/>
          <pc:sldMk cId="407794548" sldId="318"/>
        </pc:sldMkLst>
        <pc:spChg chg="mod">
          <ac:chgData name="Jake Duddy" userId="7a8a0c806e99fd3e" providerId="LiveId" clId="{CCFF1EDE-63BB-4842-AC66-0597FB2EFDF5}" dt="2026-02-03T23:05:16.395" v="1135" actId="20577"/>
          <ac:spMkLst>
            <pc:docMk/>
            <pc:sldMk cId="407794548" sldId="318"/>
            <ac:spMk id="2" creationId="{36AF1311-E05B-70A0-B231-A8E6F9ED4659}"/>
          </ac:spMkLst>
        </pc:spChg>
        <pc:spChg chg="mod">
          <ac:chgData name="Jake Duddy" userId="7a8a0c806e99fd3e" providerId="LiveId" clId="{CCFF1EDE-63BB-4842-AC66-0597FB2EFDF5}" dt="2026-02-03T23:13:03.071" v="1190" actId="20577"/>
          <ac:spMkLst>
            <pc:docMk/>
            <pc:sldMk cId="407794548" sldId="318"/>
            <ac:spMk id="3" creationId="{E31DA8A8-2253-0CB7-2C59-4F210653F535}"/>
          </ac:spMkLst>
        </pc:spChg>
      </pc:sldChg>
      <pc:sldChg chg="modSp add mod">
        <pc:chgData name="Jake Duddy" userId="7a8a0c806e99fd3e" providerId="LiveId" clId="{CCFF1EDE-63BB-4842-AC66-0597FB2EFDF5}" dt="2026-02-03T23:42:14.651" v="1716"/>
        <pc:sldMkLst>
          <pc:docMk/>
          <pc:sldMk cId="881227092" sldId="319"/>
        </pc:sldMkLst>
        <pc:spChg chg="mod">
          <ac:chgData name="Jake Duddy" userId="7a8a0c806e99fd3e" providerId="LiveId" clId="{CCFF1EDE-63BB-4842-AC66-0597FB2EFDF5}" dt="2026-02-03T23:39:32.260" v="1383"/>
          <ac:spMkLst>
            <pc:docMk/>
            <pc:sldMk cId="881227092" sldId="319"/>
            <ac:spMk id="2" creationId="{34672927-7B7D-255C-ADF9-B3346FA1CC62}"/>
          </ac:spMkLst>
        </pc:spChg>
        <pc:spChg chg="mod">
          <ac:chgData name="Jake Duddy" userId="7a8a0c806e99fd3e" providerId="LiveId" clId="{CCFF1EDE-63BB-4842-AC66-0597FB2EFDF5}" dt="2026-02-03T23:42:14.651" v="1716"/>
          <ac:spMkLst>
            <pc:docMk/>
            <pc:sldMk cId="881227092" sldId="319"/>
            <ac:spMk id="3" creationId="{E23D0B4D-A747-2870-6724-3F1EFE4FD397}"/>
          </ac:spMkLst>
        </pc:spChg>
      </pc:sldChg>
      <pc:sldChg chg="modSp add mod">
        <pc:chgData name="Jake Duddy" userId="7a8a0c806e99fd3e" providerId="LiveId" clId="{CCFF1EDE-63BB-4842-AC66-0597FB2EFDF5}" dt="2026-02-03T23:47:57.347" v="1839" actId="20577"/>
        <pc:sldMkLst>
          <pc:docMk/>
          <pc:sldMk cId="3706677396" sldId="321"/>
        </pc:sldMkLst>
        <pc:spChg chg="mod">
          <ac:chgData name="Jake Duddy" userId="7a8a0c806e99fd3e" providerId="LiveId" clId="{CCFF1EDE-63BB-4842-AC66-0597FB2EFDF5}" dt="2026-02-03T23:45:15.003" v="1748" actId="313"/>
          <ac:spMkLst>
            <pc:docMk/>
            <pc:sldMk cId="3706677396" sldId="321"/>
            <ac:spMk id="2" creationId="{A0BB1804-9A51-D968-DD97-23D75ED0757D}"/>
          </ac:spMkLst>
        </pc:spChg>
        <pc:spChg chg="mod">
          <ac:chgData name="Jake Duddy" userId="7a8a0c806e99fd3e" providerId="LiveId" clId="{CCFF1EDE-63BB-4842-AC66-0597FB2EFDF5}" dt="2026-02-03T23:47:57.347" v="1839" actId="20577"/>
          <ac:spMkLst>
            <pc:docMk/>
            <pc:sldMk cId="3706677396" sldId="321"/>
            <ac:spMk id="3" creationId="{9F9E036B-6E73-281A-DE07-75187DF90C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CDFA-3271-9DA1-1563-9E816657D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E1B0B-9C5C-9264-4C16-AE1E718EC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354FB-427C-5056-DED3-0AFFE68F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18F60-83C9-BAE9-6800-BFE72CF1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60CEB-5EA0-F87D-CFD5-0872B0ED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74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7282-0F76-FADB-7B01-11F78E06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E1DC-EDAA-3622-FCB2-F601BF2A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DEF4-0953-FB48-2419-1FA44ECB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FBE60-170E-F577-00E0-F083E498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9F68-294D-5560-ACCC-A0F94B9A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9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E8E6-3CDD-7F81-91CE-8D8AADCD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4C3DC-C6CD-8B4E-9872-9611DA42E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35A8-5248-1DF3-A429-3FCCD85D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4B254-BE96-207F-6354-1E4463A4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C263-9318-E3D9-062F-C6D14DEE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19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6197-64D9-8102-EE6B-126A43D9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63A69-9BE1-35DA-A711-078963391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EA6C7-4B30-3F4F-5B92-5E2D35356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FD226-FC0C-0BEB-C6EF-172F634B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C6C1D-8ECF-9EBA-559D-A55CA863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6C70F-1D8C-3246-EC33-71624F87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71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F1B1-CF78-0BF8-8B9A-21EB7D19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1B1C4-467B-2816-9B3F-9C328B6A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07F9B-29C3-5775-A563-5D327C53F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80E2C-CB94-56CB-979F-C3A1B7E3F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9D050-3D36-2861-2A9A-E7B8DA21C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4C979-2C59-1A0A-0B92-EDF5E896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48242-D64A-EDAD-F69F-EA70CB41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62A88-7AD3-A0E7-1C62-C58EBAC2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4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D67B-7E30-56C1-A077-BCEC1601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E3A70-36C9-7EF3-D764-85A4078A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9D59E-0000-F9E5-22BF-0589FD4F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89194-3D5C-FB50-D4B0-F9F42A4C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84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55FCA-8369-BCD4-70FA-946B3A97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A5E3C-4367-AF03-2623-576BD213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6AC8A-D9EC-7496-E81A-42AAD896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33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4E0B-EA4C-E013-7915-90D3B8FD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89F84-B50E-CABA-0080-0BE9F25D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FAD9D-0627-1D9A-67BA-8E2D8F2AD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83AF6-9582-0D5A-60B3-0F1A2C1D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A80B6-6008-759E-8B4D-F846F028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04FD-33B7-3994-FF28-3EE4394F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24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D9C3-CA54-A6F8-7604-71F02922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DA82C-C662-32FF-45B7-39F221D52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62142-E682-C9E1-1DBE-7D52D0FCE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AD776-391A-CB81-B62F-7C1AF089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C0D19-A620-4951-0B97-36FF6129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76BAB-C63A-46DE-1DE6-740B33BF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44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8AE-6BAF-21DC-03DF-B8A29E87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17395-5C77-4797-9FFC-C37B06D71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F199D-124E-A7C5-5E35-BA70F989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BB626-0E43-85D8-737F-EBF65A1B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AFBE8-7D3B-010F-EE68-8441CF05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89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18D350-6A00-F28D-0829-C882C94A9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795D8-83A5-4782-6299-BD835BA60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61C28-4BEE-A849-6731-CCB76DF2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73851-EFC4-576B-548C-F3C68752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81DB4-A438-8867-4ADE-029BC201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67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8F6CD-609C-9A77-DC50-536EC786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6D476-FD18-7D2D-6684-E8856549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F778-FD34-EC0D-AA97-02FCAB028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765AC-4321-4C4E-8A2D-60007643505B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93CED-8E50-2FA2-50B0-A82A791FE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35BFD-BBD8-48D9-1B5B-2189A038D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2303-AF57-4F95-864C-F5D70D2AE7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86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valuationcontext.github.io/posts/DAXUDF-AutoDocs/" TargetMode="External"/><Relationship Id="rId2" Type="http://schemas.openxmlformats.org/officeDocument/2006/relationships/hyperlink" Target="https://docs.sqlbi.com/dax-style/dax-naming-convention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22617F-D3A4-600C-A967-1FEC73F068D5}"/>
              </a:ext>
            </a:extLst>
          </p:cNvPr>
          <p:cNvSpPr txBox="1">
            <a:spLocks/>
          </p:cNvSpPr>
          <p:nvPr/>
        </p:nvSpPr>
        <p:spPr>
          <a:xfrm>
            <a:off x="838200" y="2709908"/>
            <a:ext cx="105939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Extending DAX with User-Defined Functions (UDFs)</a:t>
            </a:r>
            <a:endParaRPr lang="en-GB" sz="4000" dirty="0">
              <a:solidFill>
                <a:srgbClr val="074D49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FF10E9-901D-B0D8-E914-F83F0E9DBE35}"/>
              </a:ext>
            </a:extLst>
          </p:cNvPr>
          <p:cNvSpPr txBox="1">
            <a:spLocks/>
          </p:cNvSpPr>
          <p:nvPr/>
        </p:nvSpPr>
        <p:spPr>
          <a:xfrm>
            <a:off x="838200" y="4082143"/>
            <a:ext cx="10515600" cy="209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478F8C"/>
                </a:solidFill>
              </a:rPr>
              <a:t>Jake Duddy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478F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3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C634A8-FD24-1278-57E6-1B795418A9B2}"/>
              </a:ext>
            </a:extLst>
          </p:cNvPr>
          <p:cNvGrpSpPr>
            <a:grpSpLocks noChangeAspect="1"/>
          </p:cNvGrpSpPr>
          <p:nvPr/>
        </p:nvGrpSpPr>
        <p:grpSpPr>
          <a:xfrm>
            <a:off x="4065107" y="3929294"/>
            <a:ext cx="2418048" cy="2751008"/>
            <a:chOff x="1029322" y="2455893"/>
            <a:chExt cx="1803040" cy="205131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46F8F05-72A5-AB58-A312-EB89180D2D1A}"/>
                </a:ext>
              </a:extLst>
            </p:cNvPr>
            <p:cNvSpPr/>
            <p:nvPr/>
          </p:nvSpPr>
          <p:spPr>
            <a:xfrm>
              <a:off x="1029322" y="2491317"/>
              <a:ext cx="1803040" cy="1767616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6BAA50-2A78-C82A-8B9B-510728C8A5BF}"/>
                </a:ext>
              </a:extLst>
            </p:cNvPr>
            <p:cNvGrpSpPr/>
            <p:nvPr/>
          </p:nvGrpSpPr>
          <p:grpSpPr>
            <a:xfrm>
              <a:off x="1029322" y="2455893"/>
              <a:ext cx="1803040" cy="2051315"/>
              <a:chOff x="4328299" y="4325248"/>
              <a:chExt cx="1803040" cy="205131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3486058-3292-0424-9154-99B74094213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8299" y="4325248"/>
                <a:ext cx="1803040" cy="1803040"/>
                <a:chOff x="6310385" y="1254510"/>
                <a:chExt cx="3240161" cy="3240161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87321143-AEAF-2B4F-06E9-EFBC06E3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074D49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6310385" y="1254510"/>
                  <a:ext cx="3240161" cy="3240161"/>
                </a:xfrm>
                <a:prstGeom prst="rect">
                  <a:avLst/>
                </a:prstGeom>
              </p:spPr>
            </p:pic>
            <p:pic>
              <p:nvPicPr>
                <p:cNvPr id="17" name="Picture 2" descr="avatar">
                  <a:extLst>
                    <a:ext uri="{FF2B5EF4-FFF2-40B4-BE49-F238E27FC236}">
                      <a16:creationId xmlns:a16="http://schemas.microsoft.com/office/drawing/2014/main" id="{9F3A2C4C-B6AA-6C2F-9179-B43A4C4E17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4529" y="2578853"/>
                  <a:ext cx="731871" cy="73187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94DADC-0DAC-B903-DBDB-72ED3C38F7D7}"/>
                  </a:ext>
                </a:extLst>
              </p:cNvPr>
              <p:cNvSpPr txBox="1"/>
              <p:nvPr/>
            </p:nvSpPr>
            <p:spPr>
              <a:xfrm>
                <a:off x="4328299" y="6145731"/>
                <a:ext cx="180304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evaluationcontext.github.io/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3B2667-7E4D-163F-E3ED-CEC7A13994DF}"/>
              </a:ext>
            </a:extLst>
          </p:cNvPr>
          <p:cNvGrpSpPr>
            <a:grpSpLocks noChangeAspect="1"/>
          </p:cNvGrpSpPr>
          <p:nvPr/>
        </p:nvGrpSpPr>
        <p:grpSpPr>
          <a:xfrm>
            <a:off x="6949399" y="3929294"/>
            <a:ext cx="2482218" cy="2797874"/>
            <a:chOff x="1037916" y="4617388"/>
            <a:chExt cx="1850889" cy="208626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DC3B964-7A81-9CB7-996E-21DFB39DB900}"/>
                </a:ext>
              </a:extLst>
            </p:cNvPr>
            <p:cNvSpPr/>
            <p:nvPr/>
          </p:nvSpPr>
          <p:spPr>
            <a:xfrm>
              <a:off x="1057704" y="4652377"/>
              <a:ext cx="1803040" cy="1803040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564478-B326-4E2F-558B-D5D0DE4A528E}"/>
                </a:ext>
              </a:extLst>
            </p:cNvPr>
            <p:cNvGrpSpPr/>
            <p:nvPr/>
          </p:nvGrpSpPr>
          <p:grpSpPr>
            <a:xfrm>
              <a:off x="1037916" y="4617388"/>
              <a:ext cx="1850889" cy="2086261"/>
              <a:chOff x="6471477" y="4301323"/>
              <a:chExt cx="1850889" cy="208626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CDBA567-4C06-88FC-AA13-B3F8BEA928E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71477" y="4301323"/>
                <a:ext cx="1850889" cy="1850889"/>
                <a:chOff x="1559491" y="1198144"/>
                <a:chExt cx="3240162" cy="3240162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FE96CA94-402E-6829-E4DA-CBCA002627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4567AC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1559491" y="1198144"/>
                  <a:ext cx="3240162" cy="3240162"/>
                </a:xfrm>
                <a:prstGeom prst="rect">
                  <a:avLst/>
                </a:prstGeom>
              </p:spPr>
            </p:pic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3B2317A-20BF-BFB3-5771-09283A42D0F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794181" y="2508654"/>
                  <a:ext cx="731871" cy="731871"/>
                  <a:chOff x="2611313" y="2374495"/>
                  <a:chExt cx="997356" cy="997356"/>
                </a:xfrm>
              </p:grpSpPr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B36B85B-9FAD-B8C9-C914-3825532000E9}"/>
                      </a:ext>
                    </a:extLst>
                  </p:cNvPr>
                  <p:cNvSpPr/>
                  <p:nvPr/>
                </p:nvSpPr>
                <p:spPr>
                  <a:xfrm>
                    <a:off x="2611313" y="2374495"/>
                    <a:ext cx="997356" cy="997356"/>
                  </a:xfrm>
                  <a:prstGeom prst="rect">
                    <a:avLst/>
                  </a:prstGeom>
                  <a:solidFill>
                    <a:srgbClr val="4567A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0399DC86-4A81-15B5-FA83-D382D07FD0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9006" t="9049" r="6976" b="9333"/>
                  <a:stretch/>
                </p:blipFill>
                <p:spPr>
                  <a:xfrm>
                    <a:off x="2707664" y="2470159"/>
                    <a:ext cx="837945" cy="81653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6E8A50-F8D5-684E-FCCE-5F24B4E22663}"/>
                  </a:ext>
                </a:extLst>
              </p:cNvPr>
              <p:cNvSpPr txBox="1"/>
              <p:nvPr/>
            </p:nvSpPr>
            <p:spPr>
              <a:xfrm>
                <a:off x="6471477" y="6156752"/>
                <a:ext cx="185088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linkedin.com/in/jakeduddy/</a:t>
                </a:r>
              </a:p>
            </p:txBody>
          </p:sp>
        </p:grpSp>
      </p:grp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0D6FE6D-FF96-CD36-62FA-AE6B83D81826}"/>
              </a:ext>
            </a:extLst>
          </p:cNvPr>
          <p:cNvSpPr txBox="1">
            <a:spLocks/>
          </p:cNvSpPr>
          <p:nvPr/>
        </p:nvSpPr>
        <p:spPr>
          <a:xfrm>
            <a:off x="4039146" y="2173978"/>
            <a:ext cx="9532646" cy="170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Platform Microsoft MVP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Fabric Community Super User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EvaluationContext Blog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Devon and Cornwall Power BI Group Co-organizer</a:t>
            </a:r>
          </a:p>
          <a:p>
            <a:pPr marL="0" indent="0">
              <a:buNone/>
            </a:pPr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9E33E9-2FC8-2C8B-4B31-93597D74870D}"/>
              </a:ext>
            </a:extLst>
          </p:cNvPr>
          <p:cNvSpPr txBox="1"/>
          <p:nvPr/>
        </p:nvSpPr>
        <p:spPr>
          <a:xfrm>
            <a:off x="4039146" y="1349659"/>
            <a:ext cx="3675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Jake Duddy</a:t>
            </a:r>
          </a:p>
        </p:txBody>
      </p:sp>
      <p:pic>
        <p:nvPicPr>
          <p:cNvPr id="63" name="Picture 62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8D4FF37A-F504-DE90-569E-E6E08B0F72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47" y="0"/>
            <a:ext cx="2289053" cy="923546"/>
          </a:xfrm>
          <a:prstGeom prst="rect">
            <a:avLst/>
          </a:prstGeom>
        </p:spPr>
      </p:pic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07688CE-8FE4-F063-3809-C5F2E2C27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959" y="1298465"/>
            <a:ext cx="2984968" cy="27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7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7673-F3C9-ECAC-351C-6383B1CE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5E85-C88D-C3D7-5FBF-89AE2497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What are DAX UDFs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E1C4-FF75-874E-58FB-057306D9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/>
              <a:t>User Defined Functions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≠ User Data Functions</a:t>
            </a:r>
          </a:p>
          <a:p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2000" dirty="0"/>
              <a:t>Build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GB" sz="2000" dirty="0"/>
              <a:t>your own DAX functions that you can call like any other DAX function</a:t>
            </a:r>
          </a:p>
          <a:p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2000" dirty="0"/>
              <a:t>DRY (Don’t Repeat Yourself)</a:t>
            </a:r>
          </a:p>
          <a:p>
            <a:pPr lvl="1"/>
            <a:r>
              <a:rPr lang="en-GB" sz="1600" dirty="0"/>
              <a:t>Code that is repeated multiple times can be encapsulated in a single function</a:t>
            </a:r>
          </a:p>
          <a:p>
            <a:pPr lvl="1"/>
            <a:r>
              <a:rPr lang="en-GB" sz="1600" dirty="0"/>
              <a:t>Doesn’t improve performance</a:t>
            </a:r>
          </a:p>
          <a:p>
            <a:pPr lvl="1"/>
            <a:r>
              <a:rPr lang="en-GB" sz="1600" dirty="0"/>
              <a:t>Can make measures simpler/less verbose</a:t>
            </a:r>
          </a:p>
          <a:p>
            <a:pPr lvl="1"/>
            <a:r>
              <a:rPr lang="en-GB" sz="1600" dirty="0"/>
              <a:t>Can make bulk updates easier</a:t>
            </a:r>
          </a:p>
          <a:p>
            <a:pPr lvl="1"/>
            <a:endParaRPr lang="en-GB" sz="1600" dirty="0"/>
          </a:p>
          <a:p>
            <a:r>
              <a:rPr lang="en-GB" sz="2000" dirty="0"/>
              <a:t>They are built for semantic model authors</a:t>
            </a:r>
          </a:p>
        </p:txBody>
      </p:sp>
    </p:spTree>
    <p:extLst>
      <p:ext uri="{BB962C8B-B14F-4D97-AF65-F5344CB8AC3E}">
        <p14:creationId xmlns:p14="http://schemas.microsoft.com/office/powerpoint/2010/main" val="349257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32E7-FC1C-73AF-33E1-CD8D5A94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4B48-C7E0-4CB4-5686-01035ECE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Parameters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90731-DA45-58CC-CE5C-227FEE87D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/>
              <a:t>Type </a:t>
            </a:r>
          </a:p>
          <a:p>
            <a:pPr lvl="1"/>
            <a:r>
              <a:rPr lang="en-GB" sz="1600" dirty="0"/>
              <a:t>ANYVAL:		No restriction, any expression can be used</a:t>
            </a:r>
          </a:p>
          <a:p>
            <a:pPr lvl="1"/>
            <a:r>
              <a:rPr lang="en-GB" sz="1600" dirty="0"/>
              <a:t>SCALAR: 		Any scalar value, like an integer or a string; tables cannot be used</a:t>
            </a:r>
          </a:p>
          <a:p>
            <a:pPr lvl="1"/>
            <a:r>
              <a:rPr lang="en-GB" sz="1600" dirty="0"/>
              <a:t>TABLE:		Any table expression, scalars are not allowed</a:t>
            </a:r>
          </a:p>
          <a:p>
            <a:pPr lvl="1"/>
            <a:r>
              <a:rPr lang="en-GB" sz="1600" dirty="0"/>
              <a:t>ANYREF:		A reference to any table, column, measure, or calendar</a:t>
            </a:r>
          </a:p>
          <a:p>
            <a:pPr lvl="1"/>
            <a:endParaRPr lang="en-GB" sz="1600" dirty="0"/>
          </a:p>
          <a:p>
            <a:r>
              <a:rPr lang="en-GB" sz="2000" dirty="0"/>
              <a:t>Subtype</a:t>
            </a:r>
          </a:p>
          <a:p>
            <a:pPr lvl="1"/>
            <a:r>
              <a:rPr lang="en-GB" sz="1600" dirty="0"/>
              <a:t>VARIANT, INT64, DECIMAL, STRING …</a:t>
            </a:r>
          </a:p>
          <a:p>
            <a:pPr lvl="1"/>
            <a:r>
              <a:rPr lang="en-GB" sz="1600" dirty="0"/>
              <a:t>Casts parameters to specified type</a:t>
            </a:r>
          </a:p>
          <a:p>
            <a:pPr lvl="1"/>
            <a:endParaRPr lang="en-GB" sz="1600" dirty="0"/>
          </a:p>
          <a:p>
            <a:r>
              <a:rPr lang="en-GB" sz="2200" b="1" dirty="0"/>
              <a:t>Parameter-passing mode</a:t>
            </a:r>
          </a:p>
          <a:p>
            <a:pPr lvl="1"/>
            <a:r>
              <a:rPr lang="en-GB" sz="1600" dirty="0"/>
              <a:t>VAL (value):  	Resolved before being passed into function</a:t>
            </a:r>
          </a:p>
          <a:p>
            <a:pPr lvl="1"/>
            <a:r>
              <a:rPr lang="en-GB" sz="1600" dirty="0"/>
              <a:t>EXPR (expression):  	Resolved within function</a:t>
            </a:r>
          </a:p>
        </p:txBody>
      </p:sp>
    </p:spTree>
    <p:extLst>
      <p:ext uri="{BB962C8B-B14F-4D97-AF65-F5344CB8AC3E}">
        <p14:creationId xmlns:p14="http://schemas.microsoft.com/office/powerpoint/2010/main" val="48286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959CB-E6DA-06DB-371D-C8DC2822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F1311-E05B-70A0-B231-A8E6F9E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Parameters are not measure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DA8A8-2253-0CB7-2C59-4F210653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/>
              <a:t>No implicit CALCULATE, no context transition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779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61E4-F1E1-872A-0604-13BAAC3B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30B5-A831-35FC-05B0-85077932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Comments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6828-8373-5ACA-9152-11CF7347E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/>
              <a:t>Specified with /// before the function definition</a:t>
            </a:r>
          </a:p>
          <a:p>
            <a:r>
              <a:rPr lang="en-GB" sz="2000" dirty="0"/>
              <a:t>Shows up in IntelliSense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50879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9FE7-0ED3-E762-34A1-736A20D9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AA00-146C-3F6D-32F9-DCFFDE83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Model-dependent &amp; Model-independent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E075-8775-09F1-14A8-0AF21BD8A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/>
              <a:t>Model Dependent</a:t>
            </a:r>
          </a:p>
          <a:p>
            <a:pPr lvl="1"/>
            <a:r>
              <a:rPr lang="en-GB" sz="1600" dirty="0"/>
              <a:t>Has expectations on semantic model schema 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Model Independent</a:t>
            </a:r>
          </a:p>
          <a:p>
            <a:pPr lvl="1"/>
            <a:r>
              <a:rPr lang="en-GB" sz="1600" dirty="0"/>
              <a:t>Has </a:t>
            </a:r>
            <a:r>
              <a:rPr lang="en-GB" sz="1600" b="1" dirty="0"/>
              <a:t>NO</a:t>
            </a:r>
            <a:r>
              <a:rPr lang="en-GB" sz="1600" dirty="0"/>
              <a:t> expectations on semantic model schema </a:t>
            </a:r>
          </a:p>
        </p:txBody>
      </p:sp>
    </p:spTree>
    <p:extLst>
      <p:ext uri="{BB962C8B-B14F-4D97-AF65-F5344CB8AC3E}">
        <p14:creationId xmlns:p14="http://schemas.microsoft.com/office/powerpoint/2010/main" val="60335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02E4-CE9B-9889-A41D-D86AD1D7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1804-9A51-D968-DD97-23D75ED0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Naming Convention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036B-6E73-281A-DE07-75187DF90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>
                <a:hlinkClick r:id="rId2"/>
              </a:rPr>
              <a:t>https://docs.sqlbi.com/dax-style/dax-naming-conventions</a:t>
            </a:r>
            <a:endParaRPr lang="en-GB" sz="2000" dirty="0"/>
          </a:p>
          <a:p>
            <a:pPr lvl="1"/>
            <a:r>
              <a:rPr lang="en-GB" sz="1600" dirty="0"/>
              <a:t>Suggestion, not required</a:t>
            </a:r>
          </a:p>
          <a:p>
            <a:endParaRPr lang="en-GB" sz="2000" dirty="0"/>
          </a:p>
          <a:p>
            <a:r>
              <a:rPr lang="en-GB" sz="2000" dirty="0" err="1"/>
              <a:t>JSDocs</a:t>
            </a:r>
            <a:r>
              <a:rPr lang="en-GB" sz="2000" dirty="0"/>
              <a:t> comments, why?</a:t>
            </a:r>
          </a:p>
          <a:p>
            <a:pPr lvl="1"/>
            <a:r>
              <a:rPr lang="en-GB" sz="1600" dirty="0">
                <a:hlinkClick r:id="rId3"/>
              </a:rPr>
              <a:t>https://evaluationcontext.github.io/posts/DAXUDF-AutoDocs/</a:t>
            </a:r>
            <a:endParaRPr lang="en-GB" sz="1600" dirty="0"/>
          </a:p>
          <a:p>
            <a:pPr lvl="1"/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0667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8F44-C126-0AF3-5768-A0300506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2927-7B7D-255C-ADF9-B3346FA1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074D49"/>
                </a:solidFill>
                <a:highlight>
                  <a:srgbClr val="FFFFFF"/>
                </a:highlight>
                <a:latin typeface="Graphik Meetup"/>
              </a:rPr>
              <a:t>DAXLib.org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D0B4D-A747-2870-6724-3F1EFE4FD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44962" cy="4341259"/>
          </a:xfrm>
        </p:spPr>
        <p:txBody>
          <a:bodyPr>
            <a:normAutofit/>
          </a:bodyPr>
          <a:lstStyle/>
          <a:p>
            <a:r>
              <a:rPr lang="en-GB" sz="2000" dirty="0" err="1"/>
              <a:t>DaxLib.FormatString</a:t>
            </a:r>
            <a:endParaRPr lang="en-GB" sz="2000" dirty="0"/>
          </a:p>
          <a:p>
            <a:pPr lvl="1"/>
            <a:r>
              <a:rPr lang="en-GB" sz="1600" dirty="0"/>
              <a:t>Much easier to bulk update common format string</a:t>
            </a:r>
          </a:p>
          <a:p>
            <a:pPr marL="0" indent="0">
              <a:buNone/>
            </a:pPr>
            <a:endParaRPr lang="en-GB" sz="1600" dirty="0"/>
          </a:p>
          <a:p>
            <a:r>
              <a:rPr lang="en-GB" sz="2000" dirty="0" err="1"/>
              <a:t>DaxLib.SVG</a:t>
            </a:r>
            <a:endParaRPr lang="en-GB" sz="2000" dirty="0"/>
          </a:p>
          <a:p>
            <a:pPr lvl="1"/>
            <a:r>
              <a:rPr lang="en-GB" sz="1600" dirty="0"/>
              <a:t>SVG can be complex</a:t>
            </a:r>
          </a:p>
          <a:p>
            <a:pPr lvl="2"/>
            <a:r>
              <a:rPr lang="en-GB" sz="1200" dirty="0"/>
              <a:t>Need to know how SVGs are defined</a:t>
            </a:r>
          </a:p>
          <a:p>
            <a:pPr lvl="2"/>
            <a:r>
              <a:rPr lang="en-GB" sz="1200" dirty="0"/>
              <a:t>Need to know how to convert data to SVG definition</a:t>
            </a:r>
          </a:p>
          <a:p>
            <a:pPr lvl="2"/>
            <a:r>
              <a:rPr lang="en-GB" sz="1200" dirty="0"/>
              <a:t>Need to good enough at DAX for the conversion</a:t>
            </a:r>
          </a:p>
          <a:p>
            <a:pPr lvl="2"/>
            <a:r>
              <a:rPr lang="en-GB" sz="1200" dirty="0"/>
              <a:t>Need to make code performant</a:t>
            </a:r>
          </a:p>
        </p:txBody>
      </p:sp>
    </p:spTree>
    <p:extLst>
      <p:ext uri="{BB962C8B-B14F-4D97-AF65-F5344CB8AC3E}">
        <p14:creationId xmlns:p14="http://schemas.microsoft.com/office/powerpoint/2010/main" val="88122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19232</TotalTime>
  <Words>334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Graphik Meetup</vt:lpstr>
      <vt:lpstr>Office Theme</vt:lpstr>
      <vt:lpstr>PowerPoint Presentation</vt:lpstr>
      <vt:lpstr>PowerPoint Presentation</vt:lpstr>
      <vt:lpstr>What are DAX UDFs</vt:lpstr>
      <vt:lpstr>Parameters</vt:lpstr>
      <vt:lpstr>Parameters are not measure</vt:lpstr>
      <vt:lpstr>Comments</vt:lpstr>
      <vt:lpstr>Model-dependent &amp; Model-independent</vt:lpstr>
      <vt:lpstr>Naming Convention</vt:lpstr>
      <vt:lpstr>DAXLib.org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Duddy</dc:creator>
  <cp:lastModifiedBy>Jake Duddy</cp:lastModifiedBy>
  <cp:revision>21</cp:revision>
  <dcterms:created xsi:type="dcterms:W3CDTF">2025-04-08T20:32:31Z</dcterms:created>
  <dcterms:modified xsi:type="dcterms:W3CDTF">2026-02-05T12:28:28Z</dcterms:modified>
</cp:coreProperties>
</file>